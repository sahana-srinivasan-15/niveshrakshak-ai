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-296" y="-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731520"/>
            <a:ext cx="3291840" cy="34747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SANGYAN INVESTOR RESILIENCE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943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800" b="1">
                <a:solidFill>
                  <a:srgbClr val="1E3A8A"/>
                </a:solidFill>
                <a:latin typeface="Segoe UI"/>
              </a:defRPr>
            </a:pPr>
            <a:r>
              <a:t>NiveshRakshak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40280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AI-Powered Investor Safety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88920"/>
            <a:ext cx="5943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i="1">
                <a:solidFill>
                  <a:srgbClr val="475569"/>
                </a:solidFill>
                <a:latin typeface="Segoe UI"/>
              </a:defRPr>
            </a:pPr>
            <a:r>
              <a:t>“Before You Trust. Check with AI.”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29000"/>
            <a:ext cx="2377440" cy="5029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“Guaranteed 30% Return”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3429000"/>
            <a:ext cx="2377440" cy="5029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“Limited Slots”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2377440" cy="5029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“Send ₹10,000 Now”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4069080"/>
            <a:ext cx="2377440" cy="5029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“Share OTP”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937760"/>
            <a:ext cx="4937760" cy="822960"/>
          </a:xfrm>
          <a:prstGeom prst="rect">
            <a:avLst/>
          </a:prstGeom>
          <a:solidFill>
            <a:srgbClr val="FEF2F2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DC2626"/>
                </a:solidFill>
                <a:latin typeface="Segoe UI"/>
              </a:defRPr>
            </a:pPr>
            <a:r>
              <a:t>One message can become a financial loss.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822960"/>
            <a:ext cx="4389120" cy="53035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040880" y="1005840"/>
            <a:ext cx="40233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178040" y="1143000"/>
            <a:ext cx="3749040" cy="5486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lang="en-US" sz="1600" dirty="0" smtClean="0"/>
              <a:t>In</a:t>
            </a:r>
            <a:r>
              <a:rPr sz="1600" smtClean="0"/>
              <a:t>coming </a:t>
            </a:r>
            <a:r>
              <a:rPr sz="1600"/>
              <a:t>Investment Message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8040" y="1828800"/>
            <a:ext cx="3749040" cy="38404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DC2626"/>
                </a:solidFill>
              </a:defRPr>
            </a:pPr>
            <a:r>
              <a:rPr sz="1600"/>
              <a:t>⚡ VIP WEALTH ADVISORY</a:t>
            </a:r>
          </a:p>
          <a:p>
            <a:pPr>
              <a:spcBef>
                <a:spcPts val="600"/>
              </a:spcBef>
              <a:defRPr sz="1050" b="1">
                <a:solidFill>
                  <a:srgbClr val="DC2626"/>
                </a:solidFill>
              </a:defRPr>
            </a:pPr>
            <a:r>
              <a:rPr sz="1600"/>
              <a:t>• Guaranteed 30% monthly return</a:t>
            </a:r>
          </a:p>
          <a:p>
            <a:pPr>
              <a:spcBef>
                <a:spcPts val="600"/>
              </a:spcBef>
              <a:defRPr sz="1050" b="0">
                <a:solidFill>
                  <a:srgbClr val="0F172A"/>
                </a:solidFill>
              </a:defRPr>
            </a:pPr>
            <a:r>
              <a:rPr sz="1600"/>
              <a:t>• 100% Risk-Free Capital Guarantee</a:t>
            </a:r>
          </a:p>
          <a:p>
            <a:pPr>
              <a:spcBef>
                <a:spcPts val="600"/>
              </a:spcBef>
              <a:defRPr sz="1050" b="1">
                <a:solidFill>
                  <a:srgbClr val="DC2626"/>
                </a:solidFill>
              </a:defRPr>
            </a:pPr>
            <a:r>
              <a:rPr sz="1600"/>
              <a:t>• Limited slots: Only 2 left today!</a:t>
            </a:r>
          </a:p>
          <a:p>
            <a:pPr>
              <a:spcBef>
                <a:spcPts val="600"/>
              </a:spcBef>
              <a:defRPr sz="1050" b="1">
                <a:solidFill>
                  <a:srgbClr val="DC2626"/>
                </a:solidFill>
              </a:defRPr>
            </a:pPr>
            <a:r>
              <a:rPr sz="1600"/>
              <a:t>• Send ₹10,000 Now to UPI:</a:t>
            </a:r>
          </a:p>
          <a:p>
            <a:pPr>
              <a:spcBef>
                <a:spcPts val="600"/>
              </a:spcBef>
              <a:defRPr sz="1050" b="0">
                <a:solidFill>
                  <a:srgbClr val="2563EB"/>
                </a:solidFill>
              </a:defRPr>
            </a:pPr>
            <a:r>
              <a:rPr sz="1600"/>
              <a:t>   wealth.quickpay@okaxis</a:t>
            </a:r>
          </a:p>
          <a:p>
            <a:pPr>
              <a:spcBef>
                <a:spcPts val="600"/>
              </a:spcBef>
              <a:defRPr sz="1050" b="1">
                <a:solidFill>
                  <a:srgbClr val="DC2626"/>
                </a:solidFill>
              </a:defRPr>
            </a:pPr>
            <a:r>
              <a:rPr sz="1600"/>
              <a:t>• Share OTP to activate ₹500 bonus</a:t>
            </a:r>
          </a:p>
          <a:p>
            <a:pPr>
              <a:spcBef>
                <a:spcPts val="1400"/>
              </a:spcBef>
              <a:defRPr sz="950" b="1">
                <a:solidFill>
                  <a:srgbClr val="DC2626"/>
                </a:solidFill>
              </a:defRPr>
            </a:pPr>
            <a:r>
              <a:rPr sz="1600"/>
              <a:t>⚠️ HIGH-RISK FINANCIAL SIGNALS DETECTED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9144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rPr sz="1600"/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86868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rPr sz="1600"/>
              <a:t>The Problem Starts Before the Money Moves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594360"/>
            <a:ext cx="1737360" cy="365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475569"/>
                </a:solidFill>
                <a:latin typeface="Segoe UI"/>
              </a:defRPr>
            </a:pPr>
            <a:r>
              <a:rPr sz="900"/>
              <a:t>Pre-Transaction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9202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50" b="1">
                <a:solidFill>
                  <a:srgbClr val="64748B"/>
                </a:solidFill>
              </a:defRPr>
            </a:pPr>
            <a:r>
              <a:rPr sz="1600"/>
              <a:t>STAGE 01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rPr sz="1600"/>
              <a:t>Suspicious</a:t>
            </a:r>
            <a:br>
              <a:rPr sz="1600"/>
            </a:br>
            <a:r>
              <a:rPr sz="1600"/>
              <a:t>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874519"/>
            <a:ext cx="18594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600" b="1">
                <a:solidFill>
                  <a:srgbClr val="64748B"/>
                </a:solidFill>
              </a:defRPr>
            </a:pPr>
            <a:r>
              <a:rPr sz="1600"/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554480"/>
            <a:ext cx="19202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50" b="1">
                <a:solidFill>
                  <a:srgbClr val="64748B"/>
                </a:solidFill>
              </a:defRPr>
            </a:pPr>
            <a:r>
              <a:rPr sz="1600"/>
              <a:t>STAGE 02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rPr sz="1600"/>
              <a:t>Trust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874519"/>
            <a:ext cx="18594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600" b="1">
                <a:solidFill>
                  <a:srgbClr val="64748B"/>
                </a:solidFill>
              </a:defRPr>
            </a:pPr>
            <a:r>
              <a:rPr sz="1600"/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554480"/>
            <a:ext cx="19202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50" b="1">
                <a:solidFill>
                  <a:srgbClr val="64748B"/>
                </a:solidFill>
              </a:defRPr>
            </a:pPr>
            <a:r>
              <a:rPr sz="1600"/>
              <a:t>STAGE 03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rPr sz="1600"/>
              <a:t>Pressure /</a:t>
            </a:r>
            <a:br>
              <a:rPr sz="1600"/>
            </a:br>
            <a:r>
              <a:rPr sz="1600"/>
              <a:t>Urgency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874519"/>
            <a:ext cx="18594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600" b="1">
                <a:solidFill>
                  <a:srgbClr val="64748B"/>
                </a:solidFill>
              </a:defRPr>
            </a:pPr>
            <a:r>
              <a:rPr sz="1600"/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554480"/>
            <a:ext cx="19202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50" b="1">
                <a:solidFill>
                  <a:srgbClr val="64748B"/>
                </a:solidFill>
              </a:defRPr>
            </a:pPr>
            <a:r>
              <a:rPr sz="1600"/>
              <a:t>STAGE 04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rPr sz="1600"/>
              <a:t>Payment /</a:t>
            </a:r>
            <a:br>
              <a:rPr sz="1600"/>
            </a:br>
            <a:r>
              <a:rPr sz="1600"/>
              <a:t>Sensitive Info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1874519"/>
            <a:ext cx="18594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600" b="1">
                <a:solidFill>
                  <a:srgbClr val="64748B"/>
                </a:solidFill>
              </a:defRPr>
            </a:pPr>
            <a:r>
              <a:rPr sz="1600"/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0" y="1554480"/>
            <a:ext cx="1920240" cy="10515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50" b="1">
                <a:solidFill>
                  <a:srgbClr val="DC2626"/>
                </a:solidFill>
              </a:defRPr>
            </a:pPr>
            <a:r>
              <a:rPr sz="1600"/>
              <a:t>STAGE 05</a:t>
            </a:r>
          </a:p>
          <a:p>
            <a:pPr algn="ctr">
              <a:defRPr sz="1100" b="1">
                <a:solidFill>
                  <a:srgbClr val="DC2626"/>
                </a:solidFill>
              </a:defRPr>
            </a:pPr>
            <a:r>
              <a:rPr sz="1600"/>
              <a:t>Potential</a:t>
            </a:r>
            <a:br>
              <a:rPr sz="1600"/>
            </a:br>
            <a:r>
              <a:rPr sz="1600"/>
              <a:t>Financial Loss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4867" y="2926079"/>
            <a:ext cx="5437293" cy="3466253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rPr sz="1600"/>
              <a:t>KEY VULNERABILITY DRIVERS</a:t>
            </a:r>
          </a:p>
          <a:p>
            <a:pPr>
              <a:spcBef>
                <a:spcPts val="1200"/>
              </a:spcBef>
              <a:defRPr sz="1300" b="1">
                <a:solidFill>
                  <a:srgbClr val="0F172A"/>
                </a:solidFill>
              </a:defRPr>
            </a:pPr>
            <a:r>
              <a:rPr sz="1600"/>
              <a:t>• Misleading investment claims can look genuine.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</a:defRPr>
            </a:pPr>
            <a:r>
              <a:rPr sz="1600"/>
              <a:t>   Deceptive branding and professional phrasing mimic legitimate institutions.</a:t>
            </a:r>
          </a:p>
          <a:p>
            <a:pPr>
              <a:spcBef>
                <a:spcPts val="1200"/>
              </a:spcBef>
              <a:defRPr sz="1300" b="1">
                <a:solidFill>
                  <a:srgbClr val="0F172A"/>
                </a:solidFill>
              </a:defRPr>
            </a:pPr>
            <a:r>
              <a:rPr sz="1600"/>
              <a:t>• First-time investors may not recognize warning signs.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</a:defRPr>
            </a:pPr>
            <a:r>
              <a:rPr sz="1600"/>
              <a:t>   Rapid digital onboarding leaves new entrants unfamiliar with regulatory safeguards.</a:t>
            </a:r>
          </a:p>
          <a:p>
            <a:pPr>
              <a:spcBef>
                <a:spcPts val="1200"/>
              </a:spcBef>
              <a:defRPr sz="1300" b="1">
                <a:solidFill>
                  <a:srgbClr val="0F172A"/>
                </a:solidFill>
              </a:defRPr>
            </a:pPr>
            <a:r>
              <a:rPr sz="1600"/>
              <a:t>• Users often need help before they act, not after.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</a:defRPr>
            </a:pPr>
            <a:r>
              <a:rPr sz="1600"/>
              <a:t>   Traditional redressal is post-facto. Prevention must occur at the point of message delivery.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926080"/>
            <a:ext cx="5242255" cy="32004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rPr sz="1600"/>
              <a:t>THE SYSTEMIC GAP</a:t>
            </a:r>
          </a:p>
          <a:p>
            <a:pPr>
              <a:spcBef>
                <a:spcPts val="1400"/>
              </a:spcBef>
              <a:spcAft>
                <a:spcPts val="1600"/>
              </a:spcAft>
              <a:defRPr sz="1800" b="1">
                <a:solidFill>
                  <a:srgbClr val="1E3A8A"/>
                </a:solidFill>
              </a:defRPr>
            </a:pPr>
            <a:r>
              <a:rPr sz="1600"/>
              <a:t>“There is a need for a simple safety layer between a financial message and an investor’s action.”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rPr sz="1600"/>
              <a:t>1. Intercept before fund transfer or credential disclosure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rPr sz="1600"/>
              <a:t>2. Break artificial urgency with objective risk explanation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rPr sz="1600"/>
              <a:t>3. Provide deterministic safe verification steps instantly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9144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rPr sz="1600"/>
              <a:t>TARGET AUDIENCE &amp; 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86868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rPr sz="1600"/>
              <a:t>A Safety Layer for Everyday Investors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594360"/>
            <a:ext cx="1737360" cy="365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475569"/>
                </a:solidFill>
                <a:latin typeface="Segoe UI"/>
              </a:defRPr>
            </a:pPr>
            <a:r>
              <a:rPr sz="900"/>
              <a:t>Everyday Indian Investors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5146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E3A8A"/>
                </a:solidFill>
                <a:latin typeface="Segoe UI"/>
              </a:defRPr>
            </a:pPr>
            <a:r>
              <a:rPr sz="1600"/>
              <a:t>First-Time Investors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rPr sz="1600"/>
              <a:t>May not recognize common scam signals.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65576" y="1554480"/>
            <a:ext cx="25146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E3A8A"/>
                </a:solidFill>
                <a:latin typeface="Segoe UI"/>
              </a:defRPr>
            </a:pPr>
            <a:r>
              <a:rPr sz="1600"/>
              <a:t>Tier-2 / Tier-3 Users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rPr sz="1600"/>
              <a:t>Need simple, accessible explanations.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554480"/>
            <a:ext cx="25146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E3A8A"/>
                </a:solidFill>
                <a:latin typeface="Segoe UI"/>
              </a:defRPr>
            </a:pPr>
            <a:r>
              <a:rPr sz="1600"/>
              <a:t>Senior Citizens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rPr sz="1600"/>
              <a:t>May be targeted by impersonation and pressure tactics.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33688" y="1554480"/>
            <a:ext cx="25146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E3A8A"/>
                </a:solidFill>
                <a:latin typeface="Segoe UI"/>
              </a:defRPr>
            </a:pPr>
            <a:r>
              <a:rPr sz="1600"/>
              <a:t>Recently Targeted Users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rPr sz="1600"/>
              <a:t>Need confidence to pause and verify.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9633" y="3125893"/>
            <a:ext cx="10728655" cy="2314787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93C5FD"/>
                </a:solidFill>
              </a:defRPr>
            </a:pPr>
            <a:r>
              <a:t>THE PROTECTIVE SOLUTION</a:t>
            </a:r>
          </a:p>
          <a:p>
            <a:pPr>
              <a:spcBef>
                <a:spcPts val="400"/>
              </a:spcBef>
              <a:defRPr sz="3600" b="1">
                <a:solidFill>
                  <a:srgbClr val="FFFFFF"/>
                </a:solidFill>
                <a:latin typeface="Segoe UI"/>
              </a:defRPr>
            </a:pPr>
            <a:r>
              <a:t>NiveshRakshak</a:t>
            </a:r>
          </a:p>
          <a:p>
            <a:pPr>
              <a:spcBef>
                <a:spcPts val="400"/>
              </a:spcBef>
              <a:defRPr sz="1600">
                <a:solidFill>
                  <a:srgbClr val="E0E7FF"/>
                </a:solidFill>
              </a:defRPr>
            </a:pPr>
            <a:r>
              <a:t>Check suspicious financial messages before taking action.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07252" y="5532120"/>
            <a:ext cx="2560320" cy="731520"/>
          </a:xfrm>
          <a:prstGeom prst="roundRect">
            <a:avLst/>
          </a:prstGeom>
          <a:solidFill>
            <a:srgbClr val="1E40AF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Confusing Message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4772" y="5532120"/>
            <a:ext cx="2926080" cy="731520"/>
          </a:xfrm>
          <a:prstGeom prst="roundRect">
            <a:avLst/>
          </a:prstGeom>
          <a:solidFill>
            <a:srgbClr val="1E40AF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Understand the Risk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19" y="5532120"/>
            <a:ext cx="3017520" cy="731520"/>
          </a:xfrm>
          <a:prstGeom prst="roundRect">
            <a:avLst/>
          </a:prstGeom>
          <a:solidFill>
            <a:srgbClr val="1E40AF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Take a Safer Next Step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67572" y="56692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60A5FA"/>
                </a:solidFill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19" y="56692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60A5FA"/>
                </a:solidFill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8686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From Screenshot to Safer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594360"/>
            <a:ext cx="1737360" cy="365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475569"/>
                </a:solidFill>
                <a:latin typeface="Segoe UI"/>
              </a:defRPr>
            </a:pPr>
            <a:r>
              <a:t>6-Step Solution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6459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rPr sz="1600"/>
              <a:t>STEP 01</a:t>
            </a:r>
          </a:p>
          <a:p>
            <a:pPr algn="ctr"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rPr sz="1600"/>
              <a:t>Upload / Paste</a:t>
            </a:r>
          </a:p>
          <a:p>
            <a:pPr algn="ctr"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rPr sz="1600"/>
              <a:t>Screenshot or 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2468880"/>
            <a:ext cx="18594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rPr sz="1600"/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42032" y="1645920"/>
            <a:ext cx="16459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rPr sz="1600"/>
              <a:t>STEP 02</a:t>
            </a:r>
          </a:p>
          <a:p>
            <a:pPr algn="ctr"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rPr sz="1600"/>
              <a:t>OCR</a:t>
            </a:r>
          </a:p>
          <a:p>
            <a:pPr algn="ctr"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rPr sz="1600"/>
              <a:t>Extract the 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87952" y="2468880"/>
            <a:ext cx="18594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rPr sz="1600"/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1645920"/>
            <a:ext cx="16459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rPr sz="1600"/>
              <a:t>STEP 03</a:t>
            </a:r>
          </a:p>
          <a:p>
            <a:pPr algn="ctr"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rPr sz="1600"/>
              <a:t>Risk Signal</a:t>
            </a:r>
            <a:br>
              <a:rPr sz="1600"/>
            </a:br>
            <a:r>
              <a:rPr sz="1600"/>
              <a:t>Analysis</a:t>
            </a:r>
          </a:p>
          <a:p>
            <a:pPr algn="ctr"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rPr sz="1600"/>
              <a:t>Detect warning signs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8464" y="2468880"/>
            <a:ext cx="18594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rPr sz="1600"/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1645920"/>
            <a:ext cx="16459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rPr sz="1600"/>
              <a:t>STEP 04</a:t>
            </a:r>
          </a:p>
          <a:p>
            <a:pPr algn="ctr"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rPr sz="1600"/>
              <a:t>Investor</a:t>
            </a:r>
            <a:br>
              <a:rPr sz="1600"/>
            </a:br>
            <a:r>
              <a:rPr sz="1600"/>
              <a:t>Safety Meter</a:t>
            </a:r>
          </a:p>
          <a:p>
            <a:pPr algn="ctr"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rPr sz="1600"/>
              <a:t>Show overall concern level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08976" y="2468880"/>
            <a:ext cx="18594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rPr sz="1600"/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645920"/>
            <a:ext cx="16459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rPr sz="1600"/>
              <a:t>STEP 05</a:t>
            </a:r>
          </a:p>
          <a:p>
            <a:pPr algn="ctr"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rPr sz="1600"/>
              <a:t>Evidence +</a:t>
            </a:r>
            <a:br>
              <a:rPr sz="1600"/>
            </a:br>
            <a:r>
              <a:rPr sz="1600"/>
              <a:t>Explanation</a:t>
            </a:r>
          </a:p>
          <a:p>
            <a:pPr algn="ctr"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rPr sz="1600"/>
              <a:t>Explain WHY it looks risky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19488" y="2468880"/>
            <a:ext cx="18594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rPr sz="1600"/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84080" y="1645920"/>
            <a:ext cx="1645920" cy="20116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059669"/>
                </a:solidFill>
              </a:defRPr>
            </a:pPr>
            <a:r>
              <a:rPr sz="1600"/>
              <a:t>STEP 06</a:t>
            </a:r>
          </a:p>
          <a:p>
            <a:pPr algn="ctr"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rPr sz="1600"/>
              <a:t>Safe Action</a:t>
            </a:r>
            <a:br>
              <a:rPr sz="1600"/>
            </a:br>
            <a:r>
              <a:rPr sz="1600"/>
              <a:t>Plan</a:t>
            </a:r>
          </a:p>
          <a:p>
            <a:pPr algn="ctr"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rPr sz="1600"/>
              <a:t>Pause → Verify → Act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10728655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rPr sz="1600"/>
              <a:t>CORE DETECTED RISK SIGNALS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434840"/>
            <a:ext cx="16459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F172A"/>
                </a:solidFill>
              </a:defRPr>
            </a:pPr>
            <a:r>
              <a:rPr sz="1600"/>
              <a:t>Guaranteed Returns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97480" y="4434840"/>
            <a:ext cx="16459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F172A"/>
                </a:solidFill>
              </a:defRPr>
            </a:pPr>
            <a:r>
              <a:rPr sz="1600"/>
              <a:t>Urgency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4434840"/>
            <a:ext cx="16459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F172A"/>
                </a:solidFill>
              </a:defRPr>
            </a:pPr>
            <a:r>
              <a:rPr sz="1600"/>
              <a:t>OTP Requests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434840"/>
            <a:ext cx="16459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F172A"/>
                </a:solidFill>
              </a:defRPr>
            </a:pPr>
            <a:r>
              <a:rPr sz="1600"/>
              <a:t>Payment Pressure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4434840"/>
            <a:ext cx="16459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F172A"/>
                </a:solidFill>
              </a:defRPr>
            </a:pPr>
            <a:r>
              <a:rPr sz="1600"/>
              <a:t>Impersonation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29800" y="4434840"/>
            <a:ext cx="16459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F172A"/>
                </a:solidFill>
              </a:defRPr>
            </a:pPr>
            <a:r>
              <a:rPr sz="1600"/>
              <a:t>Suspicious Links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760720"/>
            <a:ext cx="685597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rPr sz="1600"/>
              <a:t>Clear, deterministic verification — intuitive for judges to evaluate in 5 seconds.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PROTOTYPE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8686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NiveshRakshak in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594360"/>
            <a:ext cx="1737360" cy="365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475569"/>
                </a:solidFill>
                <a:latin typeface="Segoe UI"/>
              </a:defRPr>
            </a:pPr>
            <a:r>
              <a:t>Working Prototype UI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900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50" b="1">
                <a:solidFill>
                  <a:srgbClr val="0F172A"/>
                </a:solidFill>
              </a:defRPr>
            </a:pPr>
            <a:r>
              <a:rPr sz="1600"/>
              <a:t>01 — Submit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rPr sz="1600"/>
              <a:t>Upload or Paste Suspicious Message</a:t>
            </a:r>
          </a:p>
        </p:txBody>
      </p:sp>
      <p:pic>
        <p:nvPicPr>
          <p:cNvPr id="7" name="Picture 6" descr="step1_subm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34" y="2240280"/>
            <a:ext cx="3818468" cy="4023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379976" y="1463040"/>
            <a:ext cx="342900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50" b="1">
                <a:solidFill>
                  <a:srgbClr val="0F172A"/>
                </a:solidFill>
              </a:defRPr>
            </a:pPr>
            <a:r>
              <a:rPr sz="1600"/>
              <a:t>02 — Understand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rPr sz="1600"/>
              <a:t>Safety Meter &amp; Evidence Red Flags</a:t>
            </a:r>
          </a:p>
        </p:txBody>
      </p:sp>
      <p:pic>
        <p:nvPicPr>
          <p:cNvPr id="9" name="Picture 8" descr="step2_underst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201" y="2240280"/>
            <a:ext cx="4174066" cy="442298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028432" y="1463040"/>
            <a:ext cx="342900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50" b="1">
                <a:solidFill>
                  <a:srgbClr val="0F172A"/>
                </a:solidFill>
              </a:defRPr>
            </a:pPr>
            <a:r>
              <a:rPr sz="1600"/>
              <a:t>03 — Act Safely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rPr sz="1600"/>
              <a:t>Safe Action Plan &amp; Multilingual</a:t>
            </a:r>
          </a:p>
        </p:txBody>
      </p:sp>
      <p:pic>
        <p:nvPicPr>
          <p:cNvPr id="11" name="Picture 10" descr="step3_actsafe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1" y="2240280"/>
            <a:ext cx="3901101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GUARDRAILS &amp; RESPONSIBLE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8686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Explainable AI. Privacy First. No Investment Advice.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594360"/>
            <a:ext cx="1737360" cy="365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475569"/>
                </a:solidFill>
                <a:latin typeface="Segoe UI"/>
              </a:defRPr>
            </a:pPr>
            <a:r>
              <a:t>Trust Principles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38912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F172A"/>
                </a:solidFill>
              </a:defRPr>
            </a:pPr>
            <a:r>
              <a:rPr sz="1400"/>
              <a:t>User Input (Screenshot / Text)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01952"/>
            <a:ext cx="16190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rPr sz="1400"/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84832"/>
            <a:ext cx="438912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F172A"/>
                </a:solidFill>
              </a:defRPr>
            </a:pPr>
            <a:r>
              <a:rPr sz="1400"/>
              <a:t>OCR Text Extraction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23744"/>
            <a:ext cx="16190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rPr sz="1400"/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06624"/>
            <a:ext cx="438912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F172A"/>
                </a:solidFill>
              </a:defRPr>
            </a:pPr>
            <a:r>
              <a:rPr sz="1400"/>
              <a:t>Risk Signal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45536"/>
            <a:ext cx="16190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rPr sz="1400"/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28416"/>
            <a:ext cx="4389120" cy="438912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E3A8A"/>
                </a:solidFill>
              </a:defRPr>
            </a:pPr>
            <a:r>
              <a:rPr sz="1400"/>
              <a:t>Rule-Based Safety Engine + AI 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67328"/>
            <a:ext cx="16190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rPr sz="1400"/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50208"/>
            <a:ext cx="438912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F172A"/>
                </a:solidFill>
              </a:defRPr>
            </a:pPr>
            <a:r>
              <a:rPr sz="1400"/>
              <a:t>Investor Safety Meter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89120"/>
            <a:ext cx="16190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rPr sz="1400"/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572000"/>
            <a:ext cx="438912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F172A"/>
                </a:solidFill>
              </a:defRPr>
            </a:pPr>
            <a:r>
              <a:rPr sz="1400"/>
              <a:t>Evidence + Plain-Language Explanation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10912"/>
            <a:ext cx="16190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rPr sz="1400"/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193792"/>
            <a:ext cx="4389120" cy="438912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59669"/>
                </a:solidFill>
              </a:defRPr>
            </a:pPr>
            <a:r>
              <a:rPr sz="1400"/>
              <a:t>Safe Action Plan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1463040"/>
            <a:ext cx="59436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rPr sz="1400"/>
              <a:t>Explainable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rPr sz="1400"/>
              <a:t>Shows the warning signs and verbatim evidence behind the concern level.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2834640"/>
            <a:ext cx="59436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rPr sz="1400"/>
              <a:t>Private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rPr sz="1400"/>
              <a:t>No OTP, PIN, password, PAN/Aadhaar, or bank credentials required. No permanent screenshot storage.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0" y="4206240"/>
            <a:ext cx="59436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rPr sz="1400"/>
              <a:t>Responsible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rPr sz="1400"/>
              <a:t>No stock tips, buy/sell/hold recommendations, price predictions, or broker promotion.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760720"/>
            <a:ext cx="10728655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rPr sz="1400"/>
              <a:t>AI explains the risk indicators. It does not decide what the investor should buy or sell.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IMPACT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8686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Helping Investors Pause Before They Become Victims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594360"/>
            <a:ext cx="1737360" cy="365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475569"/>
                </a:solidFill>
                <a:latin typeface="Segoe UI"/>
              </a:defRPr>
            </a:pPr>
            <a:r>
              <a:t>Investor Resilience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11887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DC2626"/>
                </a:solidFill>
              </a:defRPr>
            </a:pPr>
            <a:r>
              <a:rPr sz="1400"/>
              <a:t>BEFORE</a:t>
            </a:r>
          </a:p>
          <a:p>
            <a:pPr>
              <a:spcBef>
                <a:spcPts val="800"/>
              </a:spcBef>
              <a:defRPr sz="1150" b="1">
                <a:solidFill>
                  <a:srgbClr val="881337"/>
                </a:solidFill>
              </a:defRPr>
            </a:pPr>
            <a:r>
              <a:rPr sz="1400"/>
              <a:t>Suspicious Message  →  Confusion  →  Pressure  →  Impulsive 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11887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rPr sz="1400"/>
              <a:t>WITH NIVESHRAKSHAK</a:t>
            </a:r>
          </a:p>
          <a:p>
            <a:pPr>
              <a:spcBef>
                <a:spcPts val="800"/>
              </a:spcBef>
              <a:defRPr sz="1150" b="1">
                <a:solidFill>
                  <a:srgbClr val="14532D"/>
                </a:solidFill>
              </a:defRPr>
            </a:pPr>
            <a:r>
              <a:rPr sz="1400"/>
              <a:t>Suspicious Message  →  Understand  →  Verify  →  Act Safely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34290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rPr sz="1400"/>
              <a:t>Safer Digital Participation</a:t>
            </a:r>
          </a:p>
          <a:p>
            <a:pPr>
              <a:spcBef>
                <a:spcPts val="600"/>
              </a:spcBef>
              <a:defRPr sz="1000">
                <a:solidFill>
                  <a:srgbClr val="475569"/>
                </a:solidFill>
              </a:defRPr>
            </a:pPr>
            <a:r>
              <a:rPr sz="1400"/>
              <a:t>Helps investors recognize common warning signs.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2834640"/>
            <a:ext cx="34290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rPr sz="1400"/>
              <a:t>Bharat-First Accessibility</a:t>
            </a:r>
          </a:p>
          <a:p>
            <a:pPr>
              <a:spcBef>
                <a:spcPts val="600"/>
              </a:spcBef>
              <a:defRPr sz="1000">
                <a:solidFill>
                  <a:srgbClr val="475569"/>
                </a:solidFill>
              </a:defRPr>
            </a:pPr>
            <a:r>
              <a:rPr sz="1400"/>
              <a:t>Simple explanations in English, Tamil and Hindi.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2" y="2834640"/>
            <a:ext cx="34290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rPr sz="1400"/>
              <a:t>Scalable Safety Layer</a:t>
            </a:r>
          </a:p>
          <a:p>
            <a:pPr>
              <a:spcBef>
                <a:spcPts val="600"/>
              </a:spcBef>
              <a:defRPr sz="1000">
                <a:solidFill>
                  <a:srgbClr val="475569"/>
                </a:solidFill>
              </a:defRPr>
            </a:pPr>
            <a:r>
              <a:rPr sz="1400"/>
              <a:t>Can support multiple digital fraud and misleading-content scenarios.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97680"/>
            <a:ext cx="10728655" cy="2011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NiveshRakshak</a:t>
            </a:r>
          </a:p>
          <a:p>
            <a:pPr algn="ctr">
              <a:spcBef>
                <a:spcPts val="400"/>
              </a:spcBef>
              <a:defRPr sz="1500">
                <a:solidFill>
                  <a:srgbClr val="94A3B8"/>
                </a:solidFill>
              </a:defRPr>
            </a:pPr>
            <a:r>
              <a:t>“Before You Trust. Check with AI.”</a:t>
            </a:r>
          </a:p>
          <a:p>
            <a:pPr algn="ctr">
              <a:spcBef>
                <a:spcPts val="1200"/>
              </a:spcBef>
              <a:defRPr sz="1400" b="1">
                <a:solidFill>
                  <a:srgbClr val="60A5FA"/>
                </a:solidFill>
              </a:defRPr>
            </a:pPr>
            <a:r>
              <a:t>PAUSE  →  UNDERSTAND  →  VERIFY  →  ACT SAFELY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632</Words>
  <Application>Microsoft Macintosh PowerPoint</Application>
  <PresentationFormat>Custom</PresentationFormat>
  <Paragraphs>148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cp:keywords/>
  <dc:description>generated using python-pptx</dc:description>
  <cp:lastModifiedBy>sahana srinivasan</cp:lastModifiedBy>
  <cp:revision>2</cp:revision>
  <dcterms:created xsi:type="dcterms:W3CDTF">2013-01-27T09:14:16Z</dcterms:created>
  <dcterms:modified xsi:type="dcterms:W3CDTF">2026-10-04T18:11:45Z</dcterms:modified>
  <cp:category/>
</cp:coreProperties>
</file>